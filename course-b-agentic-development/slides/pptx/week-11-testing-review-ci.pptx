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B72B1E-21AA-4079-B271-580F624F55F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F2C363-EE8A-4DC6-AD31-38A24DFA1E1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E023C0-5BCE-4C57-9E36-9B24A93D93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556513-B645-4775-B2CE-F7AF0E68B15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17AB0E-2C85-4263-BE02-01F3CF14A74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D949B0-CE26-49FD-9070-EB4752CDECC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D3AEE0-A617-4ADD-A89E-3B2B081DEBF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A97E96-F164-4485-AB11-D68898481EC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2E9492-E9BF-4E01-9C34-162912E89E4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2923EE-2C62-45B8-9413-764FC6ED2ED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AA2B40-42E9-4157-83AB-0E99D329DFF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40C8B8-676D-4156-816F-77002557219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A310A420-F28B-4B72-944E-F0BBC3996C41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 txBox="1"/>
          <p:nvPr/>
        </p:nvSpPr>
        <p:spPr>
          <a:xfrm>
            <a:off x="396000" y="576000"/>
            <a:ext cx="8280000" cy="789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800" spc="-1" strike="noStrike">
                <a:latin typeface="Noto Sans CJK SC"/>
              </a:rPr>
              <a:t>第 </a:t>
            </a:r>
            <a:r>
              <a:rPr b="1" lang="en-US" sz="3800" spc="-1" strike="noStrike">
                <a:latin typeface="Noto Sans CJK SC"/>
              </a:rPr>
              <a:t>11 </a:t>
            </a:r>
            <a:r>
              <a:rPr b="1" lang="zh-CN" sz="3800" spc="-1" strike="noStrike">
                <a:latin typeface="Noto Sans CJK SC"/>
              </a:rPr>
              <a:t>周：测试、</a:t>
            </a:r>
            <a:r>
              <a:rPr b="1" lang="en-US" sz="3800" spc="-1" strike="noStrike">
                <a:latin typeface="Noto Sans CJK SC"/>
              </a:rPr>
              <a:t>Review </a:t>
            </a:r>
            <a:r>
              <a:rPr b="1" lang="zh-CN" sz="3800" spc="-1" strike="noStrike">
                <a:latin typeface="Noto Sans CJK SC"/>
              </a:rPr>
              <a:t>与 </a:t>
            </a:r>
            <a:r>
              <a:rPr b="1" lang="en-US" sz="3800" spc="-1" strike="noStrike">
                <a:latin typeface="Noto Sans CJK SC"/>
              </a:rPr>
              <a:t>CI</a:t>
            </a:r>
            <a:endParaRPr b="0" lang="en-US" sz="3800" spc="-1" strike="noStrike"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468000" y="1116000"/>
            <a:ext cx="7920000" cy="56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2600" spc="-1" strike="noStrike">
                <a:latin typeface="Noto Sans CJK SC"/>
              </a:rPr>
              <a:t>把 </a:t>
            </a:r>
            <a:r>
              <a:rPr b="0" lang="en-US" sz="2600" spc="-1" strike="noStrike">
                <a:latin typeface="Noto Sans CJK SC"/>
              </a:rPr>
              <a:t>Agent </a:t>
            </a:r>
            <a:r>
              <a:rPr b="0" lang="zh-CN" sz="2600" spc="-1" strike="noStrike">
                <a:latin typeface="Noto Sans CJK SC"/>
              </a:rPr>
              <a:t>输出纳入质量门禁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468000" y="1548000"/>
            <a:ext cx="7920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Noto Sans CJK SC"/>
              </a:rPr>
              <a:t>Agentic Development</a:t>
            </a:r>
            <a:r>
              <a:rPr b="0" lang="zh-CN" sz="1800" spc="-1" strike="noStrike">
                <a:latin typeface="Noto Sans CJK SC"/>
              </a:rPr>
              <a:t>：</a:t>
            </a:r>
            <a:r>
              <a:rPr b="0" lang="en-US" sz="1800" spc="-1" strike="noStrike">
                <a:latin typeface="Noto Sans CJK SC"/>
              </a:rPr>
              <a:t>AI </a:t>
            </a:r>
            <a:r>
              <a:rPr b="0" lang="zh-CN" sz="1800" spc="-1" strike="noStrike">
                <a:latin typeface="Noto Sans CJK SC"/>
              </a:rPr>
              <a:t>原生软件工程实践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本讲目标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设计测试和 </a:t>
            </a:r>
            <a:r>
              <a:rPr b="0" lang="en-US" sz="2400" spc="-1" strike="noStrike">
                <a:latin typeface="Noto Sans CJK SC"/>
              </a:rPr>
              <a:t>Review </a:t>
            </a:r>
            <a:r>
              <a:rPr b="0" lang="zh-CN" sz="2400" spc="-1" strike="noStrike">
                <a:latin typeface="Noto Sans CJK SC"/>
              </a:rPr>
              <a:t>流程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理解 </a:t>
            </a:r>
            <a:r>
              <a:rPr b="0" lang="en-US" sz="2400" spc="-1" strike="noStrike">
                <a:latin typeface="Noto Sans CJK SC"/>
              </a:rPr>
              <a:t>CI </a:t>
            </a:r>
            <a:r>
              <a:rPr b="0" lang="zh-CN" sz="2400" spc="-1" strike="noStrike">
                <a:latin typeface="Noto Sans CJK SC"/>
              </a:rPr>
              <a:t>作用和局限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形成期末项目验证证据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为什么需要质量门禁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468000" y="576000"/>
            <a:ext cx="7920000" cy="21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Agent </a:t>
            </a:r>
            <a:r>
              <a:rPr b="0" lang="zh-CN" sz="2400" spc="-1" strike="noStrike">
                <a:latin typeface="Noto Sans CJK SC"/>
              </a:rPr>
              <a:t>输出不是完成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测试验证行为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Review </a:t>
            </a:r>
            <a:r>
              <a:rPr b="0" lang="zh-CN" sz="2400" spc="-1" strike="noStrike">
                <a:latin typeface="Noto Sans CJK SC"/>
              </a:rPr>
              <a:t>审查风险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CI </a:t>
            </a:r>
            <a:r>
              <a:rPr b="0" lang="zh-CN" sz="2400" spc="-1" strike="noStrike">
                <a:latin typeface="Noto Sans CJK SC"/>
              </a:rPr>
              <a:t>自动化部分验证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Human Gate </a:t>
            </a:r>
            <a:r>
              <a:rPr b="0" lang="zh-CN" sz="2400" spc="-1" strike="noStrike">
                <a:latin typeface="Noto Sans CJK SC"/>
              </a:rPr>
              <a:t>最终决策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2/10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测试类型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468000" y="576000"/>
            <a:ext cx="7920000" cy="174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单元测试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集成测试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构建检查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静态检查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手动验证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3/10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测试证据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468000" y="576000"/>
            <a:ext cx="7920000" cy="174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命令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退出码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通过和失败数量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关键日志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无法运行原因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4/10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 txBox="1"/>
          <p:nvPr/>
        </p:nvSpPr>
        <p:spPr>
          <a:xfrm>
            <a:off x="324000" y="180000"/>
            <a:ext cx="8496000" cy="64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00" spc="-1" strike="noStrike">
                <a:latin typeface="Noto Sans CJK SC"/>
              </a:rPr>
              <a:t>Review </a:t>
            </a:r>
            <a:r>
              <a:rPr b="1" lang="zh-CN" sz="3000" spc="-1" strike="noStrike">
                <a:latin typeface="Noto Sans CJK SC"/>
              </a:rPr>
              <a:t>维度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468000" y="576000"/>
            <a:ext cx="7920000" cy="240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需求符合度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功能正确性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代码质量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架构一致性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测试覆盖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安全风险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文档完整性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5/10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 txBox="1"/>
          <p:nvPr/>
        </p:nvSpPr>
        <p:spPr>
          <a:xfrm>
            <a:off x="324000" y="180000"/>
            <a:ext cx="8496000" cy="64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00" spc="-1" strike="noStrike">
                <a:latin typeface="Noto Sans CJK SC"/>
              </a:rPr>
              <a:t>CI </a:t>
            </a:r>
            <a:r>
              <a:rPr b="1" lang="zh-CN" sz="3000" spc="-1" strike="noStrike">
                <a:latin typeface="Noto Sans CJK SC"/>
              </a:rPr>
              <a:t>的作用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自动运行测试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统一门禁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减少人为遗漏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形成可复查记录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6/10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 txBox="1"/>
          <p:nvPr/>
        </p:nvSpPr>
        <p:spPr>
          <a:xfrm>
            <a:off x="324000" y="180000"/>
            <a:ext cx="8496000" cy="64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00" spc="-1" strike="noStrike">
                <a:latin typeface="Noto Sans CJK SC"/>
              </a:rPr>
              <a:t>CI </a:t>
            </a:r>
            <a:r>
              <a:rPr b="1" lang="zh-CN" sz="3000" spc="-1" strike="noStrike">
                <a:latin typeface="Noto Sans CJK SC"/>
              </a:rPr>
              <a:t>的局限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只覆盖已配置检查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通过不等于需求正确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通过不等于安全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不能自动替代合并决策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7/10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期末验证计划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468000" y="576000"/>
            <a:ext cx="7920000" cy="2409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测试命令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测试范围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Review checklist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CI </a:t>
            </a:r>
            <a:r>
              <a:rPr b="0" lang="zh-CN" sz="2400" spc="-1" strike="noStrike">
                <a:latin typeface="Noto Sans CJK SC"/>
              </a:rPr>
              <a:t>或替代验证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失败处理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Human Gate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8/10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"/>
          <p:cNvSpPr txBox="1"/>
          <p:nvPr/>
        </p:nvSpPr>
        <p:spPr>
          <a:xfrm>
            <a:off x="324000" y="180000"/>
            <a:ext cx="8496000" cy="64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00" spc="-1" strike="noStrike">
                <a:latin typeface="Noto Sans CJK SC"/>
              </a:rPr>
              <a:t>Review </a:t>
            </a:r>
            <a:r>
              <a:rPr b="1" lang="zh-CN" sz="3000" spc="-1" strike="noStrike">
                <a:latin typeface="Noto Sans CJK SC"/>
              </a:rPr>
              <a:t>演练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468000" y="576000"/>
            <a:ext cx="7920000" cy="196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读任务目标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读 </a:t>
            </a:r>
            <a:r>
              <a:rPr b="0" lang="en-US" sz="2400" spc="-1" strike="noStrike">
                <a:latin typeface="Noto Sans CJK SC"/>
              </a:rPr>
              <a:t>diff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核对测试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查安全风险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给出接受</a:t>
            </a:r>
            <a:r>
              <a:rPr b="0" lang="en-US" sz="2400" spc="-1" strike="noStrike">
                <a:latin typeface="Noto Sans CJK SC"/>
              </a:rPr>
              <a:t>/</a:t>
            </a:r>
            <a:r>
              <a:rPr b="0" lang="zh-CN" sz="2400" spc="-1" strike="noStrike">
                <a:latin typeface="Noto Sans CJK SC"/>
              </a:rPr>
              <a:t>返工</a:t>
            </a:r>
            <a:r>
              <a:rPr b="0" lang="en-US" sz="2400" spc="-1" strike="noStrike">
                <a:latin typeface="Noto Sans CJK SC"/>
              </a:rPr>
              <a:t>/</a:t>
            </a:r>
            <a:r>
              <a:rPr b="0" lang="zh-CN" sz="2400" spc="-1" strike="noStrike">
                <a:latin typeface="Noto Sans CJK SC"/>
              </a:rPr>
              <a:t>拒绝</a:t>
            </a:r>
            <a:r>
              <a:rPr b="0" lang="en-US" sz="2400" spc="-1" strike="noStrike">
                <a:latin typeface="Noto Sans CJK SC"/>
              </a:rPr>
              <a:t>/</a:t>
            </a:r>
            <a:r>
              <a:rPr b="0" lang="zh-CN" sz="2400" spc="-1" strike="noStrike">
                <a:latin typeface="Noto Sans CJK SC"/>
              </a:rPr>
              <a:t>证据不足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9/10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答辩证据链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468000" y="576000"/>
            <a:ext cx="7920000" cy="3404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Task Packet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规则文件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Skill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MCP </a:t>
            </a:r>
            <a:r>
              <a:rPr b="0" lang="zh-CN" sz="2400" spc="-1" strike="noStrike">
                <a:latin typeface="Noto Sans CJK SC"/>
              </a:rPr>
              <a:t>设计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Agent Team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测试日志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Review </a:t>
            </a:r>
            <a:r>
              <a:rPr b="0" lang="zh-CN" sz="2400" spc="-1" strike="noStrike">
                <a:latin typeface="Noto Sans CJK SC"/>
              </a:rPr>
              <a:t>报告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Human Gate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10/10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2026-05-27T18:34:22Z</dcterms:created>
  <dc:creator/>
  <dc:description/>
  <dc:language>en-US</dc:language>
  <cp:lastModifiedBy/>
  <dcterms:modified xsi:type="dcterms:W3CDTF">2026-05-27T18:34:22Z</dcterms:modified>
  <cp:revision>1</cp:revision>
  <dc:subject/>
  <dc:title/>
</cp:coreProperties>
</file>