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C942F4-0727-46DA-AA9E-E92ABB8CBD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92F6A0-23E6-469F-B3EA-386128BA04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4A9D5B-80A2-439B-BFE0-E4C058BE69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A8A2A4-7A57-47AF-9905-C43121F10D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F5A946-ACF5-4CA3-9465-BE6D84D9DB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7D8863-8225-476C-BB6C-6C1276BE05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9C1778-D492-4074-8ABE-FECFD47EA9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1CF6C7-0E0D-4F5F-9945-5578EF7274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6B1DB9-DF8B-4B19-91EE-1515994873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921AB4-2DE4-42CC-94BF-34BBD96CD4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3BA450-1116-42E6-921B-029BA1A4EC6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A63432-6479-4A96-A525-F5D279C6A6D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729C65F-21AF-4301-8BDA-212161F83E5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76000"/>
            <a:ext cx="8280000" cy="78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800" spc="-1" strike="noStrike">
                <a:latin typeface="Noto Sans CJK SC"/>
              </a:rPr>
              <a:t>第 </a:t>
            </a:r>
            <a:r>
              <a:rPr b="1" lang="en-US" sz="3800" spc="-1" strike="noStrike">
                <a:latin typeface="Noto Sans CJK SC"/>
              </a:rPr>
              <a:t>1 </a:t>
            </a:r>
            <a:r>
              <a:rPr b="1" lang="zh-CN" sz="3800" spc="-1" strike="noStrike">
                <a:latin typeface="Noto Sans CJK SC"/>
              </a:rPr>
              <a:t>周：</a:t>
            </a:r>
            <a:r>
              <a:rPr b="1" lang="en-US" sz="3800" spc="-1" strike="noStrike">
                <a:latin typeface="Noto Sans CJK SC"/>
              </a:rPr>
              <a:t>AI </a:t>
            </a:r>
            <a:r>
              <a:rPr b="1" lang="zh-CN" sz="3800" spc="-1" strike="noStrike">
                <a:latin typeface="Noto Sans CJK SC"/>
              </a:rPr>
              <a:t>原生软件工程导论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116000"/>
            <a:ext cx="7920000" cy="56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600" spc="-1" strike="noStrike">
                <a:latin typeface="Noto Sans CJK SC"/>
              </a:rPr>
              <a:t>从 </a:t>
            </a:r>
            <a:r>
              <a:rPr b="0" lang="en-US" sz="2600" spc="-1" strike="noStrike">
                <a:latin typeface="Noto Sans CJK SC"/>
              </a:rPr>
              <a:t>Chatbot </a:t>
            </a:r>
            <a:r>
              <a:rPr b="0" lang="zh-CN" sz="2600" spc="-1" strike="noStrike">
                <a:latin typeface="Noto Sans CJK SC"/>
              </a:rPr>
              <a:t>到 </a:t>
            </a:r>
            <a:r>
              <a:rPr b="0" lang="en-US" sz="2600" spc="-1" strike="noStrike">
                <a:latin typeface="Noto Sans CJK SC"/>
              </a:rPr>
              <a:t>Coding Agent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548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Noto Sans CJK SC"/>
              </a:rPr>
              <a:t>Agentic Development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原生软件工程实践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230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区分 </a:t>
            </a:r>
            <a:r>
              <a:rPr b="0" lang="en-US" sz="2400" spc="-1" strike="noStrike">
                <a:latin typeface="Noto Sans CJK SC"/>
              </a:rPr>
              <a:t>Chatbot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Copilot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Coding Agent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Agentic Workflow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理解 </a:t>
            </a:r>
            <a:r>
              <a:rPr b="0" lang="en-US" sz="2400" spc="-1" strike="noStrike">
                <a:latin typeface="Noto Sans CJK SC"/>
              </a:rPr>
              <a:t>Coding Agent </a:t>
            </a:r>
            <a:r>
              <a:rPr b="0" lang="zh-CN" sz="2400" spc="-1" strike="noStrike">
                <a:latin typeface="Noto Sans CJK SC"/>
              </a:rPr>
              <a:t>的工程风险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掌握 </a:t>
            </a:r>
            <a:r>
              <a:rPr b="0" lang="en-US" sz="2400" spc="-1" strike="noStrike">
                <a:latin typeface="Noto Sans CJK SC"/>
              </a:rPr>
              <a:t>Task Packet </a:t>
            </a:r>
            <a:r>
              <a:rPr b="0" lang="zh-CN" sz="2400" spc="-1" strike="noStrike">
                <a:latin typeface="Noto Sans CJK SC"/>
              </a:rPr>
              <a:t>的基本结构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认识测试、</a:t>
            </a:r>
            <a:r>
              <a:rPr b="0" lang="en-US" sz="2400" spc="-1" strike="noStrike">
                <a:latin typeface="Noto Sans CJK SC"/>
              </a:rPr>
              <a:t>Review</a:t>
            </a:r>
            <a:r>
              <a:rPr b="0" lang="zh-CN" sz="2400" spc="-1" strike="noStrike">
                <a:latin typeface="Noto Sans CJK SC"/>
              </a:rPr>
              <a:t>、权限、安全和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这门课不是 </a:t>
            </a:r>
            <a:r>
              <a:rPr b="1" lang="en-US" sz="3000" spc="-1" strike="noStrike">
                <a:latin typeface="Noto Sans CJK SC"/>
              </a:rPr>
              <a:t>Prompt </a:t>
            </a:r>
            <a:r>
              <a:rPr b="1" lang="zh-CN" sz="3000" spc="-1" strike="noStrike">
                <a:latin typeface="Noto Sans CJK SC"/>
              </a:rPr>
              <a:t>技巧课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4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不是普通 </a:t>
            </a:r>
            <a:r>
              <a:rPr b="0" lang="en-US" sz="2400" spc="-1" strike="noStrike">
                <a:latin typeface="Noto Sans CJK SC"/>
              </a:rPr>
              <a:t>Prompt Engineering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不是工具演示课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自动写代码宣传课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不是无测试无审查 </a:t>
            </a:r>
            <a:r>
              <a:rPr b="0" lang="en-US" sz="2400" spc="-1" strike="noStrike">
                <a:latin typeface="Noto Sans CJK SC"/>
              </a:rPr>
              <a:t>Demo </a:t>
            </a:r>
            <a:r>
              <a:rPr b="0" lang="zh-CN" sz="2400" spc="-1" strike="noStrike">
                <a:latin typeface="Noto Sans CJK SC"/>
              </a:rPr>
              <a:t>课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这门课真正训练什么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提出任务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组织上下文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约束工具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验证结果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审查风险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复盘失败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为什么要学 </a:t>
            </a:r>
            <a:r>
              <a:rPr b="1" lang="en-US" sz="3000" spc="-1" strike="noStrike">
                <a:latin typeface="Noto Sans CJK SC"/>
              </a:rPr>
              <a:t>Agentic Development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软件工程正在进入人与 </a:t>
            </a:r>
            <a:r>
              <a:rPr b="0" lang="en-US" sz="2400" spc="-1" strike="noStrike">
                <a:latin typeface="Noto Sans CJK SC"/>
              </a:rPr>
              <a:t>Agent </a:t>
            </a:r>
            <a:r>
              <a:rPr b="0" lang="zh-CN" sz="2400" spc="-1" strike="noStrike">
                <a:latin typeface="Noto Sans CJK SC"/>
              </a:rPr>
              <a:t>协作阶段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重要能力从背语法转向设计任务和验证交付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Agent </a:t>
            </a:r>
            <a:r>
              <a:rPr b="0" lang="zh-CN" sz="2400" spc="-1" strike="noStrike">
                <a:latin typeface="Noto Sans CJK SC"/>
              </a:rPr>
              <a:t>能加速工程，也能放大错误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四个概念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230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Chatbot</a:t>
            </a:r>
            <a:r>
              <a:rPr b="0" lang="zh-CN" sz="2400" spc="-1" strike="noStrike">
                <a:latin typeface="Noto Sans CJK SC"/>
              </a:rPr>
              <a:t>：对话、解释、总结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Copilot</a:t>
            </a:r>
            <a:r>
              <a:rPr b="0" lang="zh-CN" sz="2400" spc="-1" strike="noStrike">
                <a:latin typeface="Noto Sans CJK SC"/>
              </a:rPr>
              <a:t>：代码补全和局部建议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Coding Agent</a:t>
            </a:r>
            <a:r>
              <a:rPr b="0" lang="zh-CN" sz="2400" spc="-1" strike="noStrike">
                <a:latin typeface="Noto Sans CJK SC"/>
              </a:rPr>
              <a:t>：读代码、改文件、跑命令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Agentic Workflow</a:t>
            </a:r>
            <a:r>
              <a:rPr b="0" lang="zh-CN" sz="2400" spc="-1" strike="noStrike">
                <a:latin typeface="Noto Sans CJK SC"/>
              </a:rPr>
              <a:t>：规则、测试、</a:t>
            </a:r>
            <a:r>
              <a:rPr b="0" lang="en-US" sz="2400" spc="-1" strike="noStrike">
                <a:latin typeface="Noto Sans CJK SC"/>
              </a:rPr>
              <a:t>Review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Coding Agent </a:t>
            </a:r>
            <a:r>
              <a:rPr b="1" lang="zh-CN" sz="3000" spc="-1" strike="noStrike">
                <a:latin typeface="Noto Sans CJK SC"/>
              </a:rPr>
              <a:t>能做什么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理解项目结构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提出修改计划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修 </a:t>
            </a:r>
            <a:r>
              <a:rPr b="0" lang="en-US" sz="2400" spc="-1" strike="noStrike">
                <a:latin typeface="Noto Sans CJK SC"/>
              </a:rPr>
              <a:t>bug </a:t>
            </a:r>
            <a:r>
              <a:rPr b="0" lang="zh-CN" sz="2400" spc="-1" strike="noStrike">
                <a:latin typeface="Noto Sans CJK SC"/>
              </a:rPr>
              <a:t>或新增小功能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运行测试并分析失败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生成 </a:t>
            </a:r>
            <a:r>
              <a:rPr b="0" lang="en-US" sz="2400" spc="-1" strike="noStrike">
                <a:latin typeface="Noto Sans CJK SC"/>
              </a:rPr>
              <a:t>diff </a:t>
            </a:r>
            <a:r>
              <a:rPr b="0" lang="zh-CN" sz="2400" spc="-1" strike="noStrike">
                <a:latin typeface="Noto Sans CJK SC"/>
              </a:rPr>
              <a:t>摘要和报告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Coding Agent </a:t>
            </a:r>
            <a:r>
              <a:rPr b="1" lang="zh-CN" sz="3000" spc="-1" strike="noStrike">
                <a:latin typeface="Noto Sans CJK SC"/>
              </a:rPr>
              <a:t>不能默认做什么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85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删除大量文件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修改依赖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处理密钥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修改登录、权限、支付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合并 </a:t>
            </a:r>
            <a:r>
              <a:rPr b="0" lang="en-US" sz="2400" spc="-1" strike="noStrike">
                <a:latin typeface="Noto Sans CJK SC"/>
              </a:rPr>
              <a:t>PR </a:t>
            </a:r>
            <a:r>
              <a:rPr b="0" lang="zh-CN" sz="2400" spc="-1" strike="noStrike">
                <a:latin typeface="Noto Sans CJK SC"/>
              </a:rPr>
              <a:t>或发布线上版本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AI / Agent </a:t>
            </a:r>
            <a:r>
              <a:rPr b="1" lang="zh-CN" sz="3000" spc="-1" strike="noStrike">
                <a:latin typeface="Noto Sans CJK SC"/>
              </a:rPr>
              <a:t>可代劳任务地图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273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理解类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规划类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编码类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测试类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审查类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文档类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自动化类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工作流类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工程风险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误解需求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扩大修改范围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修改测试骗过结果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编造测试通过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泄漏密钥或隐私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破坏项目结构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Human Gate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范围确认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危险操作审批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最终接受或拒绝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保留人工责任边界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Task Packet </a:t>
            </a:r>
            <a:r>
              <a:rPr b="1" lang="zh-CN" sz="3000" spc="-1" strike="noStrike">
                <a:latin typeface="Noto Sans CJK SC"/>
              </a:rPr>
              <a:t>是什么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给 </a:t>
            </a:r>
            <a:r>
              <a:rPr b="0" lang="en-US" sz="2400" spc="-1" strike="noStrike">
                <a:latin typeface="Noto Sans CJK SC"/>
              </a:rPr>
              <a:t>Coding Agent </a:t>
            </a:r>
            <a:r>
              <a:rPr b="0" lang="zh-CN" sz="2400" spc="-1" strike="noStrike">
                <a:latin typeface="Noto Sans CJK SC"/>
              </a:rPr>
              <a:t>的结构化任务包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把模糊请求变成可执行任务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把工程边界和验收标准写清楚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11/17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Task Packet </a:t>
            </a:r>
            <a:r>
              <a:rPr b="1" lang="zh-CN" sz="3000" spc="-1" strike="noStrike">
                <a:latin typeface="Noto Sans CJK SC"/>
              </a:rPr>
              <a:t>组成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68000" y="576000"/>
            <a:ext cx="7920000" cy="284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目标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上下文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允许修改范围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禁止修改范围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验收标准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输出格式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12/17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坏任务描述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68000" y="576000"/>
            <a:ext cx="7920000" cy="185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“</a:t>
            </a:r>
            <a:r>
              <a:rPr b="0" lang="zh-CN" sz="2400" spc="-1" strike="noStrike">
                <a:latin typeface="Noto Sans CJK SC"/>
              </a:rPr>
              <a:t>帮我修一下这个 </a:t>
            </a:r>
            <a:r>
              <a:rPr b="0" lang="en-US" sz="2400" spc="-1" strike="noStrike">
                <a:latin typeface="Noto Sans CJK SC"/>
              </a:rPr>
              <a:t>bug</a:t>
            </a:r>
            <a:r>
              <a:rPr b="0" lang="zh-CN" sz="2400" spc="-1" strike="noStrike">
                <a:latin typeface="Noto Sans CJK SC"/>
              </a:rPr>
              <a:t>。”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缺少项目路径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缺少修改边界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缺少测试命令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缺少验收标准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13/17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好任务描述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说明目标和失败现象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列出相关文件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限定允许和禁止范围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要求先计划再修改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指定测试命令和输出格式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14/17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课堂活动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从最近遇到的代码问题出发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写一个自己的 </a:t>
            </a:r>
            <a:r>
              <a:rPr b="0" lang="en-US" sz="2400" spc="-1" strike="noStrike">
                <a:latin typeface="Noto Sans CJK SC"/>
              </a:rPr>
              <a:t>Task Packet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同桌互评缺失项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教师抽样点评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15/17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本课程学习路径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68000" y="576000"/>
            <a:ext cx="7920000" cy="274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Claude Code Bugfix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Codex Code Change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Project Rules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Code Review Skill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MCP </a:t>
            </a:r>
            <a:r>
              <a:rPr b="0" lang="zh-CN" sz="2400" spc="-1" strike="noStrike">
                <a:latin typeface="Noto Sans CJK SC"/>
              </a:rPr>
              <a:t>与 </a:t>
            </a:r>
            <a:r>
              <a:rPr b="0" lang="en-US" sz="2400" spc="-1" strike="noStrike">
                <a:latin typeface="Noto Sans CJK SC"/>
              </a:rPr>
              <a:t>Agent Team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测试、</a:t>
            </a:r>
            <a:r>
              <a:rPr b="0" lang="en-US" sz="2400" spc="-1" strike="noStrike">
                <a:latin typeface="Noto Sans CJK SC"/>
              </a:rPr>
              <a:t>Review </a:t>
            </a:r>
            <a:r>
              <a:rPr b="0" lang="zh-CN" sz="2400" spc="-1" strike="noStrike">
                <a:latin typeface="Noto Sans CJK SC"/>
              </a:rPr>
              <a:t>与 </a:t>
            </a:r>
            <a:r>
              <a:rPr b="0" lang="en-US" sz="2400" spc="-1" strike="noStrike">
                <a:latin typeface="Noto Sans CJK SC"/>
              </a:rPr>
              <a:t>CI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16/17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作业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完成环境检查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提交 </a:t>
            </a:r>
            <a:r>
              <a:rPr b="0" lang="en-US" sz="2400" spc="-1" strike="noStrike">
                <a:latin typeface="Noto Sans CJK SC"/>
              </a:rPr>
              <a:t>week-01-task-packet.md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阅读 </a:t>
            </a:r>
            <a:r>
              <a:rPr b="0" lang="en-US" sz="2400" spc="-1" strike="noStrike">
                <a:latin typeface="Noto Sans CJK SC"/>
              </a:rPr>
              <a:t>Lab 01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准备运行示例项目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17/17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2026-05-27T18:34:19Z</dcterms:created>
  <dc:creator/>
  <dc:description/>
  <dc:language>en-US</dc:language>
  <cp:lastModifiedBy/>
  <dcterms:modified xsi:type="dcterms:W3CDTF">2026-05-27T18:34:19Z</dcterms:modified>
  <cp:revision>1</cp:revision>
  <dc:subject/>
  <dc:title/>
</cp:coreProperties>
</file>