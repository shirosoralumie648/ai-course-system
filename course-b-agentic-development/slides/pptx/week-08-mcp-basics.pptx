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F40C4F0-E9B6-4EE5-8C86-52DD34FC6DC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3BBFEF6-74A9-4B6D-9FA4-91311E36632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23A7CE6-2813-4C3D-84D6-02B41169E79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053B484-4F06-47E3-B401-790F1F17B42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8734322-4D3C-4420-896F-D6E07A4F6D3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E903A84-9431-4661-88F6-A7AF22E3170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ED7B8D5-24B6-4BE6-8363-A670F35668C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755B996-0871-4216-9A9E-F2762540C24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B263EF0-B299-430D-86F1-64873396801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1441C96-7C6C-4377-884F-3D044E6E53B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FD6A77E-7A4B-490A-8A8F-B5DCC4E2472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7101905-4B83-43C3-87F4-BE132171074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042B77CC-2EC3-4F70-9BA0-F2D4CCF5526C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"/>
          <p:cNvSpPr txBox="1"/>
          <p:nvPr/>
        </p:nvSpPr>
        <p:spPr>
          <a:xfrm>
            <a:off x="396000" y="576000"/>
            <a:ext cx="8280000" cy="789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800" spc="-1" strike="noStrike">
                <a:latin typeface="Noto Sans CJK SC"/>
              </a:rPr>
              <a:t>第 </a:t>
            </a:r>
            <a:r>
              <a:rPr b="1" lang="en-US" sz="3800" spc="-1" strike="noStrike">
                <a:latin typeface="Noto Sans CJK SC"/>
              </a:rPr>
              <a:t>8 </a:t>
            </a:r>
            <a:r>
              <a:rPr b="1" lang="zh-CN" sz="3800" spc="-1" strike="noStrike">
                <a:latin typeface="Noto Sans CJK SC"/>
              </a:rPr>
              <a:t>周：</a:t>
            </a:r>
            <a:r>
              <a:rPr b="1" lang="en-US" sz="3800" spc="-1" strike="noStrike">
                <a:latin typeface="Noto Sans CJK SC"/>
              </a:rPr>
              <a:t>MCP </a:t>
            </a:r>
            <a:r>
              <a:rPr b="1" lang="zh-CN" sz="3800" spc="-1" strike="noStrike">
                <a:latin typeface="Noto Sans CJK SC"/>
              </a:rPr>
              <a:t>原理与使用</a:t>
            </a:r>
            <a:endParaRPr b="0" lang="en-US" sz="3800" spc="-1" strike="noStrike">
              <a:latin typeface="Arial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468000" y="1116000"/>
            <a:ext cx="7920000" cy="56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zh-CN" sz="2600" spc="-1" strike="noStrike">
                <a:latin typeface="Noto Sans CJK SC"/>
              </a:rPr>
              <a:t>为 </a:t>
            </a:r>
            <a:r>
              <a:rPr b="0" lang="en-US" sz="2600" spc="-1" strike="noStrike">
                <a:latin typeface="Noto Sans CJK SC"/>
              </a:rPr>
              <a:t>Agent </a:t>
            </a:r>
            <a:r>
              <a:rPr b="0" lang="zh-CN" sz="2600" spc="-1" strike="noStrike">
                <a:latin typeface="Noto Sans CJK SC"/>
              </a:rPr>
              <a:t>提供工具和资源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468000" y="1548000"/>
            <a:ext cx="7920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latin typeface="Noto Sans CJK SC"/>
              </a:rPr>
              <a:t>Agentic Development</a:t>
            </a:r>
            <a:r>
              <a:rPr b="0" lang="zh-CN" sz="1800" spc="-1" strike="noStrike">
                <a:latin typeface="Noto Sans CJK SC"/>
              </a:rPr>
              <a:t>：</a:t>
            </a:r>
            <a:r>
              <a:rPr b="0" lang="en-US" sz="1800" spc="-1" strike="noStrike">
                <a:latin typeface="Noto Sans CJK SC"/>
              </a:rPr>
              <a:t>AI </a:t>
            </a:r>
            <a:r>
              <a:rPr b="0" lang="zh-CN" sz="1800" spc="-1" strike="noStrike">
                <a:latin typeface="Noto Sans CJK SC"/>
              </a:rPr>
              <a:t>原生软件工程实践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本讲目标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解释 </a:t>
            </a:r>
            <a:r>
              <a:rPr b="0" lang="en-US" sz="2400" spc="-1" strike="noStrike">
                <a:latin typeface="Noto Sans CJK SC"/>
              </a:rPr>
              <a:t>MCP </a:t>
            </a:r>
            <a:r>
              <a:rPr b="0" lang="zh-CN" sz="2400" spc="-1" strike="noStrike">
                <a:latin typeface="Noto Sans CJK SC"/>
              </a:rPr>
              <a:t>解决什么问题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区分 </a:t>
            </a:r>
            <a:r>
              <a:rPr b="0" lang="en-US" sz="2400" spc="-1" strike="noStrike">
                <a:latin typeface="Noto Sans CJK SC"/>
              </a:rPr>
              <a:t>tools</a:t>
            </a:r>
            <a:r>
              <a:rPr b="0" lang="zh-CN" sz="2400" spc="-1" strike="noStrike">
                <a:latin typeface="Noto Sans CJK SC"/>
              </a:rPr>
              <a:t>、</a:t>
            </a:r>
            <a:r>
              <a:rPr b="0" lang="en-US" sz="2400" spc="-1" strike="noStrike">
                <a:latin typeface="Noto Sans CJK SC"/>
              </a:rPr>
              <a:t>resources</a:t>
            </a:r>
            <a:r>
              <a:rPr b="0" lang="zh-CN" sz="2400" spc="-1" strike="noStrike">
                <a:latin typeface="Noto Sans CJK SC"/>
              </a:rPr>
              <a:t>、</a:t>
            </a:r>
            <a:r>
              <a:rPr b="0" lang="en-US" sz="2400" spc="-1" strike="noStrike">
                <a:latin typeface="Noto Sans CJK SC"/>
              </a:rPr>
              <a:t>prompts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识别工具调用安全边界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设计工具调用场景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1/10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"/>
          <p:cNvSpPr txBox="1"/>
          <p:nvPr/>
        </p:nvSpPr>
        <p:spPr>
          <a:xfrm>
            <a:off x="324000" y="180000"/>
            <a:ext cx="8496000" cy="642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000" spc="-1" strike="noStrike">
                <a:latin typeface="Noto Sans CJK SC"/>
              </a:rPr>
              <a:t>MCP </a:t>
            </a:r>
            <a:r>
              <a:rPr b="1" lang="zh-CN" sz="3000" spc="-1" strike="noStrike">
                <a:latin typeface="Noto Sans CJK SC"/>
              </a:rPr>
              <a:t>解决什么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标准化工具接入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标准化资源访问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减少临时复制粘贴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让 </a:t>
            </a:r>
            <a:r>
              <a:rPr b="0" lang="en-US" sz="2400" spc="-1" strike="noStrike">
                <a:latin typeface="Noto Sans CJK SC"/>
              </a:rPr>
              <a:t>Agent </a:t>
            </a:r>
            <a:r>
              <a:rPr b="0" lang="zh-CN" sz="2400" spc="-1" strike="noStrike">
                <a:latin typeface="Noto Sans CJK SC"/>
              </a:rPr>
              <a:t>使用受控接口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2/10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"/>
          <p:cNvSpPr txBox="1"/>
          <p:nvPr/>
        </p:nvSpPr>
        <p:spPr>
          <a:xfrm>
            <a:off x="324000" y="180000"/>
            <a:ext cx="8496000" cy="642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000" spc="-1" strike="noStrike">
                <a:latin typeface="Noto Sans CJK SC"/>
              </a:rPr>
              <a:t>MCP </a:t>
            </a:r>
            <a:r>
              <a:rPr b="1" lang="zh-CN" sz="3000" spc="-1" strike="noStrike">
                <a:latin typeface="Noto Sans CJK SC"/>
              </a:rPr>
              <a:t>不解决什么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不保证工具输出正确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不替代人工判断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不自动解决权限问题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不让任意命令变安全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3/10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"/>
          <p:cNvSpPr txBox="1"/>
          <p:nvPr/>
        </p:nvSpPr>
        <p:spPr>
          <a:xfrm>
            <a:off x="324000" y="180000"/>
            <a:ext cx="8496000" cy="642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000" spc="-1" strike="noStrike">
                <a:latin typeface="Noto Sans CJK SC"/>
              </a:rPr>
              <a:t>Tools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可调用动作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可能有副作用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需要输入输出约束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最需要权限控制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4/10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"/>
          <p:cNvSpPr txBox="1"/>
          <p:nvPr/>
        </p:nvSpPr>
        <p:spPr>
          <a:xfrm>
            <a:off x="324000" y="180000"/>
            <a:ext cx="8496000" cy="642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000" spc="-1" strike="noStrike">
                <a:latin typeface="Noto Sans CJK SC"/>
              </a:rPr>
              <a:t>Resources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468000" y="576000"/>
            <a:ext cx="7920000" cy="1855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只读课程资料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实验要求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Rubric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模板和示例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仍需处理不可信内容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5/10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"/>
          <p:cNvSpPr txBox="1"/>
          <p:nvPr/>
        </p:nvSpPr>
        <p:spPr>
          <a:xfrm>
            <a:off x="324000" y="180000"/>
            <a:ext cx="8496000" cy="642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3000" spc="-1" strike="noStrike">
                <a:latin typeface="Noto Sans CJK SC"/>
              </a:rPr>
              <a:t>Prompts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预定义任务模板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Review </a:t>
            </a:r>
            <a:r>
              <a:rPr b="0" lang="zh-CN" sz="2400" spc="-1" strike="noStrike">
                <a:latin typeface="Noto Sans CJK SC"/>
              </a:rPr>
              <a:t>报告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Task Packet </a:t>
            </a:r>
            <a:r>
              <a:rPr b="0" lang="zh-CN" sz="2400" spc="-1" strike="noStrike">
                <a:latin typeface="Noto Sans CJK SC"/>
              </a:rPr>
              <a:t>生成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实验反馈草稿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6/10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"/>
          <p:cNvSpPr txBox="1"/>
          <p:nvPr/>
        </p:nvSpPr>
        <p:spPr>
          <a:xfrm>
            <a:off x="324000" y="180000"/>
            <a:ext cx="8496000" cy="642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课程 </a:t>
            </a:r>
            <a:r>
              <a:rPr b="1" lang="en-US" sz="3000" spc="-1" strike="noStrike">
                <a:latin typeface="Noto Sans CJK SC"/>
              </a:rPr>
              <a:t>MCP </a:t>
            </a:r>
            <a:r>
              <a:rPr b="1" lang="zh-CN" sz="3000" spc="-1" strike="noStrike">
                <a:latin typeface="Noto Sans CJK SC"/>
              </a:rPr>
              <a:t>场景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468000" y="576000"/>
            <a:ext cx="7920000" cy="2300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search_course_docs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get_assignment_requirement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check_project_structure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run_course_tests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en-US" sz="2400" spc="-1" strike="noStrike">
                <a:latin typeface="Noto Sans CJK SC"/>
              </a:rPr>
              <a:t>generate_review_report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7/10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安全风险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工具越权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资源 </a:t>
            </a:r>
            <a:r>
              <a:rPr b="0" lang="en-US" sz="2400" spc="-1" strike="noStrike">
                <a:latin typeface="Noto Sans CJK SC"/>
              </a:rPr>
              <a:t>prompt injection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输入污染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输出误信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8/10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课堂任务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设计 </a:t>
            </a:r>
            <a:r>
              <a:rPr b="0" lang="en-US" sz="2400" spc="-1" strike="noStrike">
                <a:latin typeface="Noto Sans CJK SC"/>
              </a:rPr>
              <a:t>2 </a:t>
            </a:r>
            <a:r>
              <a:rPr b="0" lang="zh-CN" sz="2400" spc="-1" strike="noStrike">
                <a:latin typeface="Noto Sans CJK SC"/>
              </a:rPr>
              <a:t>个工具调用场景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写输入输出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写权限边界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写 </a:t>
            </a:r>
            <a:r>
              <a:rPr b="0" lang="en-US" sz="2400" spc="-1" strike="noStrike">
                <a:latin typeface="Noto Sans CJK SC"/>
              </a:rPr>
              <a:t>Human Gate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9/10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"/>
          <p:cNvSpPr txBox="1"/>
          <p:nvPr/>
        </p:nvSpPr>
        <p:spPr>
          <a:xfrm>
            <a:off x="324000" y="180000"/>
            <a:ext cx="8496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zh-CN" sz="3000" spc="-1" strike="noStrike">
                <a:latin typeface="Noto Sans CJK SC"/>
              </a:rPr>
              <a:t>期末项目连接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468000" y="576000"/>
            <a:ext cx="7920000" cy="172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至少 </a:t>
            </a:r>
            <a:r>
              <a:rPr b="0" lang="en-US" sz="2400" spc="-1" strike="noStrike">
                <a:latin typeface="Noto Sans CJK SC"/>
              </a:rPr>
              <a:t>1 </a:t>
            </a:r>
            <a:r>
              <a:rPr b="0" lang="zh-CN" sz="2400" spc="-1" strike="noStrike">
                <a:latin typeface="Noto Sans CJK SC"/>
              </a:rPr>
              <a:t>个 </a:t>
            </a:r>
            <a:r>
              <a:rPr b="0" lang="en-US" sz="2400" spc="-1" strike="noStrike">
                <a:latin typeface="Noto Sans CJK SC"/>
              </a:rPr>
              <a:t>MCP </a:t>
            </a:r>
            <a:r>
              <a:rPr b="0" lang="zh-CN" sz="2400" spc="-1" strike="noStrike">
                <a:latin typeface="Noto Sans CJK SC"/>
              </a:rPr>
              <a:t>配置或设计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说明 </a:t>
            </a:r>
            <a:r>
              <a:rPr b="0" lang="en-US" sz="2400" spc="-1" strike="noStrike">
                <a:latin typeface="Noto Sans CJK SC"/>
              </a:rPr>
              <a:t>tools/resources/prompts</a:t>
            </a:r>
            <a:endParaRPr b="0" lang="en-US" sz="2400" spc="-1" strike="noStrike">
              <a:latin typeface="Arial"/>
            </a:endParaRPr>
          </a:p>
          <a:p>
            <a:r>
              <a:rPr b="0" lang="en-US" sz="2400" spc="-1" strike="noStrike">
                <a:latin typeface="Noto Sans CJK SC"/>
              </a:rPr>
              <a:t>• </a:t>
            </a:r>
            <a:r>
              <a:rPr b="0" lang="zh-CN" sz="2400" spc="-1" strike="noStrike">
                <a:latin typeface="Noto Sans CJK SC"/>
              </a:rPr>
              <a:t>说明安全边界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8100000" y="2340000"/>
            <a:ext cx="720000" cy="31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200" spc="-1" strike="noStrike">
                <a:latin typeface="Noto Sans CJK SC"/>
              </a:rPr>
              <a:t>10/10</a:t>
            </a:r>
            <a:endParaRPr b="0" lang="en-US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2026-05-27T18:34:21Z</dcterms:created>
  <dc:creator/>
  <dc:description/>
  <dc:language>en-US</dc:language>
  <cp:lastModifiedBy/>
  <dcterms:modified xsi:type="dcterms:W3CDTF">2026-05-27T18:34:21Z</dcterms:modified>
  <cp:revision>1</cp:revision>
  <dc:subject/>
  <dc:title/>
</cp:coreProperties>
</file>