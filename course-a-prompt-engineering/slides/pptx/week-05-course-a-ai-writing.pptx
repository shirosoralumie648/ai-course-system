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12.xml.rels" ContentType="application/vnd.openxmlformats-package.relationships+xml"/>
  <Override PartName="/ppt/slides/_rels/slide11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17FA2C9-7CF3-4DA2-B62C-D814315648F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667A3E5-DF36-4805-8812-4596D5C8E52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D769494-70AD-49CA-B51C-ED7BD4BA9E0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3DF7855-368A-4504-AEC5-48F27AEE9512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2FEDD1D-6E3F-4F35-A780-759B20733ED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504000" y="226080"/>
            <a:ext cx="9071640" cy="4388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D7F308D-4EBE-42EB-91C6-5F4E7D90301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E854551-8A88-41B1-96E5-DB233B25ED1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515268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CF00E57-EBF4-4041-9E42-8C8FCE631F8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A2C6AF6-259D-4D7E-A0B9-E1ABB08D5E0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504000" y="304416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0FC9287-0B07-474F-A2F8-D60449869A06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515268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90B1117-D1DD-402D-BFCA-109A484112E7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357120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663804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50400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357120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663804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90B7A34-298F-4175-A42F-5BFE65DE3891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latin typeface="Arial"/>
              </a:rPr>
              <a:t>Click to edit the title text format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ct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ctr">
              <a:buNone/>
            </a:pPr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32B538A1-76CF-4701-AACE-8F5B497E45E7}" type="slidenum">
              <a:rPr b="0" lang="en-US" sz="1400" spc="-1" strike="noStrike">
                <a:latin typeface="Times New Roman"/>
              </a:rPr>
              <a:t>&lt;number&gt;</a:t>
            </a:fld>
            <a:endParaRPr b="0" lang="en-US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"/>
          <p:cNvSpPr txBox="1"/>
          <p:nvPr/>
        </p:nvSpPr>
        <p:spPr>
          <a:xfrm>
            <a:off x="396000" y="540000"/>
            <a:ext cx="8280000" cy="751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zh-CN" sz="3600" spc="-1" strike="noStrike">
                <a:latin typeface="Noto Sans CJK SC"/>
              </a:rPr>
              <a:t>第 </a:t>
            </a:r>
            <a:r>
              <a:rPr b="1" lang="en-US" sz="3600" spc="-1" strike="noStrike">
                <a:latin typeface="Noto Sans CJK SC"/>
              </a:rPr>
              <a:t>5 </a:t>
            </a:r>
            <a:r>
              <a:rPr b="1" lang="zh-CN" sz="3600" spc="-1" strike="noStrike">
                <a:latin typeface="Noto Sans CJK SC"/>
              </a:rPr>
              <a:t>周：</a:t>
            </a:r>
            <a:r>
              <a:rPr b="1" lang="en-US" sz="3600" spc="-1" strike="noStrike">
                <a:latin typeface="Noto Sans CJK SC"/>
              </a:rPr>
              <a:t>AI </a:t>
            </a:r>
            <a:r>
              <a:rPr b="1" lang="zh-CN" sz="3600" spc="-1" strike="noStrike">
                <a:latin typeface="Noto Sans CJK SC"/>
              </a:rPr>
              <a:t>辅助写作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42" name=""/>
          <p:cNvSpPr txBox="1"/>
          <p:nvPr/>
        </p:nvSpPr>
        <p:spPr>
          <a:xfrm>
            <a:off x="468000" y="1044000"/>
            <a:ext cx="7920000" cy="421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zh-CN" sz="2500" spc="-1" strike="noStrike">
                <a:latin typeface="Noto Sans CJK SC"/>
              </a:rPr>
              <a:t>提纲、初稿、改写、润色与人工修订</a:t>
            </a:r>
            <a:endParaRPr b="0" lang="en-US" sz="2500" spc="-1" strike="noStrike">
              <a:latin typeface="Arial"/>
            </a:endParaRPr>
          </a:p>
        </p:txBody>
      </p:sp>
      <p:sp>
        <p:nvSpPr>
          <p:cNvPr id="43" name=""/>
          <p:cNvSpPr txBox="1"/>
          <p:nvPr/>
        </p:nvSpPr>
        <p:spPr>
          <a:xfrm>
            <a:off x="468000" y="1476000"/>
            <a:ext cx="7920000" cy="421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zh-CN" sz="1800" spc="-1" strike="noStrike">
                <a:latin typeface="Noto Sans CJK SC"/>
              </a:rPr>
              <a:t>课程 </a:t>
            </a:r>
            <a:r>
              <a:rPr b="0" lang="en-US" sz="1800" spc="-1" strike="noStrike">
                <a:latin typeface="Noto Sans CJK SC"/>
              </a:rPr>
              <a:t>A</a:t>
            </a:r>
            <a:r>
              <a:rPr b="0" lang="zh-CN" sz="1800" spc="-1" strike="noStrike">
                <a:latin typeface="Noto Sans CJK SC"/>
              </a:rPr>
              <a:t>：</a:t>
            </a:r>
            <a:r>
              <a:rPr b="0" lang="en-US" sz="1800" spc="-1" strike="noStrike">
                <a:latin typeface="Noto Sans CJK SC"/>
              </a:rPr>
              <a:t>AI </a:t>
            </a:r>
            <a:r>
              <a:rPr b="0" lang="zh-CN" sz="1800" spc="-1" strike="noStrike">
                <a:latin typeface="Noto Sans CJK SC"/>
              </a:rPr>
              <a:t>思维与 </a:t>
            </a:r>
            <a:r>
              <a:rPr b="0" lang="en-US" sz="1800" spc="-1" strike="noStrike">
                <a:latin typeface="Noto Sans CJK SC"/>
              </a:rPr>
              <a:t>Prompt Engineering </a:t>
            </a:r>
            <a:r>
              <a:rPr b="0" lang="zh-CN" sz="1800" spc="-1" strike="noStrike">
                <a:latin typeface="Noto Sans CJK SC"/>
              </a:rPr>
              <a:t>实践</a:t>
            </a: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"/>
          <p:cNvSpPr txBox="1"/>
          <p:nvPr/>
        </p:nvSpPr>
        <p:spPr>
          <a:xfrm>
            <a:off x="324000" y="180000"/>
            <a:ext cx="8496000" cy="421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zh-CN" sz="3000" spc="-1" strike="noStrike">
                <a:latin typeface="Noto Sans CJK SC"/>
              </a:rPr>
              <a:t>本讲目标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45" name=""/>
          <p:cNvSpPr txBox="1"/>
          <p:nvPr/>
        </p:nvSpPr>
        <p:spPr>
          <a:xfrm>
            <a:off x="468000" y="576000"/>
            <a:ext cx="7920000" cy="172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能用 </a:t>
            </a:r>
            <a:r>
              <a:rPr b="0" lang="en-US" sz="2400" spc="-1" strike="noStrike">
                <a:latin typeface="Noto Sans CJK SC"/>
              </a:rPr>
              <a:t>AI </a:t>
            </a:r>
            <a:r>
              <a:rPr b="0" lang="zh-CN" sz="2400" spc="-1" strike="noStrike">
                <a:latin typeface="Noto Sans CJK SC"/>
              </a:rPr>
              <a:t>辅助生成提纲和初稿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能控制写作风格和受众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能进行人工修订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能说明学术诚信边界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46" name=""/>
          <p:cNvSpPr txBox="1"/>
          <p:nvPr/>
        </p:nvSpPr>
        <p:spPr>
          <a:xfrm>
            <a:off x="8100000" y="2340000"/>
            <a:ext cx="720000" cy="311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200" spc="-1" strike="noStrike">
                <a:latin typeface="Noto Sans CJK SC"/>
              </a:rPr>
              <a:t>1/11</a:t>
            </a:r>
            <a:endParaRPr b="0" lang="en-US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"/>
          <p:cNvSpPr txBox="1"/>
          <p:nvPr/>
        </p:nvSpPr>
        <p:spPr>
          <a:xfrm>
            <a:off x="324000" y="180000"/>
            <a:ext cx="8496000" cy="421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zh-CN" sz="3000" spc="-1" strike="noStrike">
                <a:latin typeface="Noto Sans CJK SC"/>
              </a:rPr>
              <a:t>核心问题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48" name=""/>
          <p:cNvSpPr txBox="1"/>
          <p:nvPr/>
        </p:nvSpPr>
        <p:spPr>
          <a:xfrm>
            <a:off x="468000" y="576000"/>
            <a:ext cx="7920000" cy="172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如何让 </a:t>
            </a:r>
            <a:r>
              <a:rPr b="0" lang="en-US" sz="2400" spc="-1" strike="noStrike">
                <a:latin typeface="Noto Sans CJK SC"/>
              </a:rPr>
              <a:t>AI </a:t>
            </a:r>
            <a:r>
              <a:rPr b="0" lang="zh-CN" sz="2400" spc="-1" strike="noStrike">
                <a:latin typeface="Noto Sans CJK SC"/>
              </a:rPr>
              <a:t>参与写作过程，而不是替代作者判断？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49" name=""/>
          <p:cNvSpPr txBox="1"/>
          <p:nvPr/>
        </p:nvSpPr>
        <p:spPr>
          <a:xfrm>
            <a:off x="8100000" y="2340000"/>
            <a:ext cx="720000" cy="311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200" spc="-1" strike="noStrike">
                <a:latin typeface="Noto Sans CJK SC"/>
              </a:rPr>
              <a:t>2/11</a:t>
            </a:r>
            <a:endParaRPr b="0" lang="en-US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"/>
          <p:cNvSpPr txBox="1"/>
          <p:nvPr/>
        </p:nvSpPr>
        <p:spPr>
          <a:xfrm>
            <a:off x="324000" y="180000"/>
            <a:ext cx="8496000" cy="421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zh-CN" sz="3000" spc="-1" strike="noStrike">
                <a:latin typeface="Noto Sans CJK SC"/>
              </a:rPr>
              <a:t>关键概念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51" name=""/>
          <p:cNvSpPr txBox="1"/>
          <p:nvPr/>
        </p:nvSpPr>
        <p:spPr>
          <a:xfrm>
            <a:off x="468000" y="576000"/>
            <a:ext cx="7920000" cy="2075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写作目标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受众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风格控制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人工修订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引用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学术诚信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52" name=""/>
          <p:cNvSpPr txBox="1"/>
          <p:nvPr/>
        </p:nvSpPr>
        <p:spPr>
          <a:xfrm>
            <a:off x="8100000" y="2340000"/>
            <a:ext cx="720000" cy="311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200" spc="-1" strike="noStrike">
                <a:latin typeface="Noto Sans CJK SC"/>
              </a:rPr>
              <a:t>3/11</a:t>
            </a:r>
            <a:endParaRPr b="0" lang="en-US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"/>
          <p:cNvSpPr txBox="1"/>
          <p:nvPr/>
        </p:nvSpPr>
        <p:spPr>
          <a:xfrm>
            <a:off x="324000" y="180000"/>
            <a:ext cx="8496000" cy="421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zh-CN" sz="3000" spc="-1" strike="noStrike">
                <a:latin typeface="Noto Sans CJK SC"/>
              </a:rPr>
              <a:t>这节课不是做什么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54" name=""/>
          <p:cNvSpPr txBox="1"/>
          <p:nvPr/>
        </p:nvSpPr>
        <p:spPr>
          <a:xfrm>
            <a:off x="468000" y="576000"/>
            <a:ext cx="7920000" cy="172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不是背 </a:t>
            </a:r>
            <a:r>
              <a:rPr b="0" lang="en-US" sz="2400" spc="-1" strike="noStrike">
                <a:latin typeface="Noto Sans CJK SC"/>
              </a:rPr>
              <a:t>Prompt </a:t>
            </a:r>
            <a:r>
              <a:rPr b="0" lang="zh-CN" sz="2400" spc="-1" strike="noStrike">
                <a:latin typeface="Noto Sans CJK SC"/>
              </a:rPr>
              <a:t>模板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不是复制 </a:t>
            </a:r>
            <a:r>
              <a:rPr b="0" lang="en-US" sz="2400" spc="-1" strike="noStrike">
                <a:latin typeface="Noto Sans CJK SC"/>
              </a:rPr>
              <a:t>AI </a:t>
            </a:r>
            <a:r>
              <a:rPr b="0" lang="zh-CN" sz="2400" spc="-1" strike="noStrike">
                <a:latin typeface="Noto Sans CJK SC"/>
              </a:rPr>
              <a:t>输出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不是工具功能演示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不是替代人工判断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55" name=""/>
          <p:cNvSpPr txBox="1"/>
          <p:nvPr/>
        </p:nvSpPr>
        <p:spPr>
          <a:xfrm>
            <a:off x="8100000" y="2340000"/>
            <a:ext cx="720000" cy="311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200" spc="-1" strike="noStrike">
                <a:latin typeface="Noto Sans CJK SC"/>
              </a:rPr>
              <a:t>4/11</a:t>
            </a:r>
            <a:endParaRPr b="0" lang="en-US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"/>
          <p:cNvSpPr txBox="1"/>
          <p:nvPr/>
        </p:nvSpPr>
        <p:spPr>
          <a:xfrm>
            <a:off x="324000" y="180000"/>
            <a:ext cx="8496000" cy="421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zh-CN" sz="3000" spc="-1" strike="noStrike">
                <a:latin typeface="Noto Sans CJK SC"/>
              </a:rPr>
              <a:t>教师演示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57" name=""/>
          <p:cNvSpPr txBox="1"/>
          <p:nvPr/>
        </p:nvSpPr>
        <p:spPr>
          <a:xfrm>
            <a:off x="468000" y="576000"/>
            <a:ext cx="7920000" cy="172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展示模糊输入的问题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展示结构化输入的改善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指出事实、来源、风格和风险问题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58" name=""/>
          <p:cNvSpPr txBox="1"/>
          <p:nvPr/>
        </p:nvSpPr>
        <p:spPr>
          <a:xfrm>
            <a:off x="8100000" y="2340000"/>
            <a:ext cx="720000" cy="311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200" spc="-1" strike="noStrike">
                <a:latin typeface="Noto Sans CJK SC"/>
              </a:rPr>
              <a:t>5/11</a:t>
            </a:r>
            <a:endParaRPr b="0" lang="en-US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"/>
          <p:cNvSpPr txBox="1"/>
          <p:nvPr/>
        </p:nvSpPr>
        <p:spPr>
          <a:xfrm>
            <a:off x="324000" y="180000"/>
            <a:ext cx="8496000" cy="421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zh-CN" sz="3000" spc="-1" strike="noStrike">
                <a:latin typeface="Noto Sans CJK SC"/>
              </a:rPr>
              <a:t>课堂任务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60" name=""/>
          <p:cNvSpPr txBox="1"/>
          <p:nvPr/>
        </p:nvSpPr>
        <p:spPr>
          <a:xfrm>
            <a:off x="468000" y="576000"/>
            <a:ext cx="7920000" cy="172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对一段 </a:t>
            </a:r>
            <a:r>
              <a:rPr b="0" lang="en-US" sz="2400" spc="-1" strike="noStrike">
                <a:latin typeface="Noto Sans CJK SC"/>
              </a:rPr>
              <a:t>AI </a:t>
            </a:r>
            <a:r>
              <a:rPr b="0" lang="zh-CN" sz="2400" spc="-1" strike="noStrike">
                <a:latin typeface="Noto Sans CJK SC"/>
              </a:rPr>
              <a:t>生成文本进行人工修订，标注事实、结构、风格和引用问题。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61" name=""/>
          <p:cNvSpPr txBox="1"/>
          <p:nvPr/>
        </p:nvSpPr>
        <p:spPr>
          <a:xfrm>
            <a:off x="8100000" y="2340000"/>
            <a:ext cx="720000" cy="311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200" spc="-1" strike="noStrike">
                <a:latin typeface="Noto Sans CJK SC"/>
              </a:rPr>
              <a:t>6/11</a:t>
            </a:r>
            <a:endParaRPr b="0" lang="en-US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"/>
          <p:cNvSpPr txBox="1"/>
          <p:nvPr/>
        </p:nvSpPr>
        <p:spPr>
          <a:xfrm>
            <a:off x="324000" y="180000"/>
            <a:ext cx="8496000" cy="421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zh-CN" sz="3000" spc="-1" strike="noStrike">
                <a:latin typeface="Noto Sans CJK SC"/>
              </a:rPr>
              <a:t>过程证据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63" name=""/>
          <p:cNvSpPr txBox="1"/>
          <p:nvPr/>
        </p:nvSpPr>
        <p:spPr>
          <a:xfrm>
            <a:off x="468000" y="576000"/>
            <a:ext cx="7920000" cy="1967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原始 </a:t>
            </a:r>
            <a:r>
              <a:rPr b="0" lang="en-US" sz="2400" spc="-1" strike="noStrike">
                <a:latin typeface="Noto Sans CJK SC"/>
              </a:rPr>
              <a:t>Prompt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en-US" sz="2400" spc="-1" strike="noStrike">
                <a:latin typeface="Noto Sans CJK SC"/>
              </a:rPr>
              <a:t>AI </a:t>
            </a:r>
            <a:r>
              <a:rPr b="0" lang="zh-CN" sz="2400" spc="-1" strike="noStrike">
                <a:latin typeface="Noto Sans CJK SC"/>
              </a:rPr>
              <a:t>输出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人工修订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风险说明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复盘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64" name=""/>
          <p:cNvSpPr txBox="1"/>
          <p:nvPr/>
        </p:nvSpPr>
        <p:spPr>
          <a:xfrm>
            <a:off x="8100000" y="2340000"/>
            <a:ext cx="720000" cy="311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200" spc="-1" strike="noStrike">
                <a:latin typeface="Noto Sans CJK SC"/>
              </a:rPr>
              <a:t>7/11</a:t>
            </a:r>
            <a:endParaRPr b="0" lang="en-US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"/>
          <p:cNvSpPr txBox="1"/>
          <p:nvPr/>
        </p:nvSpPr>
        <p:spPr>
          <a:xfrm>
            <a:off x="324000" y="180000"/>
            <a:ext cx="8496000" cy="421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zh-CN" sz="3000" spc="-1" strike="noStrike">
                <a:latin typeface="Noto Sans CJK SC"/>
              </a:rPr>
              <a:t>常见风险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66" name=""/>
          <p:cNvSpPr txBox="1"/>
          <p:nvPr/>
        </p:nvSpPr>
        <p:spPr>
          <a:xfrm>
            <a:off x="468000" y="576000"/>
            <a:ext cx="7920000" cy="172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学生直接提交未经核查和修订的 </a:t>
            </a:r>
            <a:r>
              <a:rPr b="0" lang="en-US" sz="2400" spc="-1" strike="noStrike">
                <a:latin typeface="Noto Sans CJK SC"/>
              </a:rPr>
              <a:t>AI </a:t>
            </a:r>
            <a:r>
              <a:rPr b="0" lang="zh-CN" sz="2400" spc="-1" strike="noStrike">
                <a:latin typeface="Noto Sans CJK SC"/>
              </a:rPr>
              <a:t>文本。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67" name=""/>
          <p:cNvSpPr txBox="1"/>
          <p:nvPr/>
        </p:nvSpPr>
        <p:spPr>
          <a:xfrm>
            <a:off x="8100000" y="2340000"/>
            <a:ext cx="720000" cy="311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200" spc="-1" strike="noStrike">
                <a:latin typeface="Noto Sans CJK SC"/>
              </a:rPr>
              <a:t>8/11</a:t>
            </a:r>
            <a:endParaRPr b="0" lang="en-US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"/>
          <p:cNvSpPr txBox="1"/>
          <p:nvPr/>
        </p:nvSpPr>
        <p:spPr>
          <a:xfrm>
            <a:off x="324000" y="180000"/>
            <a:ext cx="8496000" cy="421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zh-CN" sz="3000" spc="-1" strike="noStrike">
                <a:latin typeface="Noto Sans CJK SC"/>
              </a:rPr>
              <a:t>同伴互评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69" name=""/>
          <p:cNvSpPr txBox="1"/>
          <p:nvPr/>
        </p:nvSpPr>
        <p:spPr>
          <a:xfrm>
            <a:off x="468000" y="576000"/>
            <a:ext cx="7920000" cy="172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任务目标是否清楚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背景是否足够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输出是否可核查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人工修订是否具体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70" name=""/>
          <p:cNvSpPr txBox="1"/>
          <p:nvPr/>
        </p:nvSpPr>
        <p:spPr>
          <a:xfrm>
            <a:off x="8100000" y="2340000"/>
            <a:ext cx="720000" cy="311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200" spc="-1" strike="noStrike">
                <a:latin typeface="Noto Sans CJK SC"/>
              </a:rPr>
              <a:t>9/11</a:t>
            </a:r>
            <a:endParaRPr b="0" lang="en-US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"/>
          <p:cNvSpPr txBox="1"/>
          <p:nvPr/>
        </p:nvSpPr>
        <p:spPr>
          <a:xfrm>
            <a:off x="324000" y="180000"/>
            <a:ext cx="8496000" cy="421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zh-CN" sz="3000" spc="-1" strike="noStrike">
                <a:latin typeface="Noto Sans CJK SC"/>
              </a:rPr>
              <a:t>课后作业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72" name=""/>
          <p:cNvSpPr txBox="1"/>
          <p:nvPr/>
        </p:nvSpPr>
        <p:spPr>
          <a:xfrm>
            <a:off x="468000" y="576000"/>
            <a:ext cx="7920000" cy="172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提交写作前后版本、</a:t>
            </a:r>
            <a:r>
              <a:rPr b="0" lang="en-US" sz="2400" spc="-1" strike="noStrike">
                <a:latin typeface="Noto Sans CJK SC"/>
              </a:rPr>
              <a:t>AI </a:t>
            </a:r>
            <a:r>
              <a:rPr b="0" lang="zh-CN" sz="2400" spc="-1" strike="noStrike">
                <a:latin typeface="Noto Sans CJK SC"/>
              </a:rPr>
              <a:t>使用记录和人工修订说明。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73" name=""/>
          <p:cNvSpPr txBox="1"/>
          <p:nvPr/>
        </p:nvSpPr>
        <p:spPr>
          <a:xfrm>
            <a:off x="8100000" y="2340000"/>
            <a:ext cx="720000" cy="311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200" spc="-1" strike="noStrike">
                <a:latin typeface="Noto Sans CJK SC"/>
              </a:rPr>
              <a:t>10/11</a:t>
            </a:r>
            <a:endParaRPr b="0" lang="en-US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"/>
          <p:cNvSpPr txBox="1"/>
          <p:nvPr/>
        </p:nvSpPr>
        <p:spPr>
          <a:xfrm>
            <a:off x="324000" y="180000"/>
            <a:ext cx="8496000" cy="421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zh-CN" sz="3000" spc="-1" strike="noStrike">
                <a:latin typeface="Noto Sans CJK SC"/>
              </a:rPr>
              <a:t>提交物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75" name=""/>
          <p:cNvSpPr txBox="1"/>
          <p:nvPr/>
        </p:nvSpPr>
        <p:spPr>
          <a:xfrm>
            <a:off x="468000" y="576000"/>
            <a:ext cx="7920000" cy="172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写作 </a:t>
            </a:r>
            <a:r>
              <a:rPr b="0" lang="en-US" sz="2400" spc="-1" strike="noStrike">
                <a:latin typeface="Noto Sans CJK SC"/>
              </a:rPr>
              <a:t>Prompt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en-US" sz="2400" spc="-1" strike="noStrike">
                <a:latin typeface="Noto Sans CJK SC"/>
              </a:rPr>
              <a:t>AI </a:t>
            </a:r>
            <a:r>
              <a:rPr b="0" lang="zh-CN" sz="2400" spc="-1" strike="noStrike">
                <a:latin typeface="Noto Sans CJK SC"/>
              </a:rPr>
              <a:t>初稿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人工修订稿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修订说明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76" name=""/>
          <p:cNvSpPr txBox="1"/>
          <p:nvPr/>
        </p:nvSpPr>
        <p:spPr>
          <a:xfrm>
            <a:off x="8100000" y="2340000"/>
            <a:ext cx="720000" cy="311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200" spc="-1" strike="noStrike">
                <a:latin typeface="Noto Sans CJK SC"/>
              </a:rPr>
              <a:t>11/11</a:t>
            </a:r>
            <a:endParaRPr b="0" lang="en-US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2026-05-27T20:03:32Z</dcterms:created>
  <dc:creator/>
  <dc:description/>
  <dc:language>en-US</dc:language>
  <cp:lastModifiedBy/>
  <dcterms:modified xsi:type="dcterms:W3CDTF">2026-05-27T20:03:33Z</dcterms:modified>
  <cp:revision>1</cp:revision>
  <dc:subject/>
  <dc:title/>
</cp:coreProperties>
</file>